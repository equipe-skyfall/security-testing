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f05bfc1-acda-d94e-bd8b-df856f6065b0}">
          <p14:sldIdLst>
            <p14:sldId id="256"/>
            <p14:sldId id="257"/>
          </p14:sldIdLst>
        </p14:section>
        <p14:section name="Introdução" id="{881f7ebc-9f3b-f13e-7100-dd711a0cecaa}">
          <p14:sldIdLst>
            <p14:sldId id="258"/>
            <p14:sldId id="259"/>
            <p14:sldId id="260"/>
          </p14:sldIdLst>
        </p14:section>
        <p14:section name="Histórico" id="{e2760a6d-e3d1-5b04-45cc-9407f7a0d14f}">
          <p14:sldIdLst>
            <p14:sldId id="261"/>
          </p14:sldIdLst>
        </p14:section>
        <p14:section name="O que é?" id="{0b4abeb9-802b-2cdb-de72-2a8f83834e99}">
          <p14:sldIdLst>
            <p14:sldId id="262"/>
            <p14:sldId id="263"/>
            <p14:sldId id="264"/>
            <p14:sldId id="265"/>
          </p14:sldIdLst>
        </p14:section>
        <p14:section name="Propósito" id="{b0e458fe-8641-bde1-c9aa-6387f75cabfc}">
          <p14:sldIdLst>
            <p14:sldId id="266"/>
          </p14:sldIdLst>
        </p14:section>
        <p14:section name="Vantagens e desvantagens" id="{d5f5b8ea-5c56-aafc-8abc-96c61337b0ae}">
          <p14:sldIdLst>
            <p14:sldId id="267"/>
          </p14:sldIdLst>
        </p14:section>
        <p14:section name="Ferramentas" id="{e855b901-6f56-d403-4aa7-c9735f3a0f74}">
          <p14:sldIdLst>
            <p14:sldId id="268"/>
          </p14:sldIdLst>
        </p14:section>
        <p14:section name="Ilustração do exemplo prático" id="{51ecf4a6-14ee-7e3f-1c0c-0a4d85d7d743}">
          <p14:sldIdLst>
            <p14:sldId id="269"/>
            <p14:sldId id="270"/>
            <p14:sldId id="271"/>
            <p14:sldId id="272"/>
          </p14:sldIdLst>
        </p14:section>
        <p14:section name="Demonstração e resultados" id="{de06292a-d0f1-e83e-5359-4ae95fc7892e}">
          <p14:sldIdLst>
            <p14:sldId id="273"/>
            <p14:sldId id="274"/>
            <p14:sldId id="275"/>
            <p14:sldId id="276"/>
          </p14:sldIdLst>
        </p14:section>
        <p14:section name="Conclusão e referências" id="{08dd11ab-3c9f-3224-e76e-fa0dde62dd9f}">
          <p14:sldIdLst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Apresentar a equipe e o tema: testes de segurança, um tipo de teste não funcional. Dizer que vamos seguir o roteiro pedido: introdução, histórico, o que é, propósito, prós e contras, ferramentas, ilustração e demonstração do exemplo prático, e referências.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rapidamente o roteiro. Os nove itens seguem exatamente os pontos pedidos pelo professor; o item 07 é a ilustração do exemplo prático (obrigatória) e o 08 é a demonstração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Contextualização. Hoje quase tudo é exposto por APIs; por isso a OWASP criou em 2019 o API Security Top 10. Quanto mais tarde uma falha de segurança é descoberta, mais cara é a correção: em produção ela envolve incidente, novo deploy e comunicação aos afetados. E, no nosso domínio (notas de alunos), há também a LGPD. Não citamos números de mercado de propósito: só usamos fontes permitidas pelo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Testes funcionais verificam o que o sistema faz; não funcionais verificam como ele se comporta. Segurança é uma característica de qualidade de produto na ISO/IEC 25010 (versão 2023), com seis subcaracterísticas. A "resistência" foi incluída na versão de 2023. Cada teste que vamos mostrar responde a uma dessas perguntas: por exemplo, o IDOR fere a confidencialidade e o mass assignment fere a integridade.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uma API própria: (1) podemos inserir falhas de propósito sem arriscar dados reais; (2) o escopo pequeno deixa a demonstração clara; (3) o domínio de notas com dois papéis reúne as falhas mais comuns em APIs. O repositório tem duas branches: vulneravel, com as falhas, e main, com as correções. Os mesmos testes rodam nas duas.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Linha do tempo. Nos anos 1970, o relatório de Anderson recomendou equipes de invasão controlada, os tiger teams. Em 1988 o worm de Morris mostrou na prática o estrago de vulnerabilidades como estouro de buffer. Nos anos 1990, com a Web, vieram os scanners automáticos. A OWASP nasce em 2001; em 2004 Potter e McGraw propõem testar segurança com base em risco, integrado ao processo de testes. Em 2006 a Microsoft publica o SDL. O NIST SP 800-115 (2008) organiza as técnicas, e o DevSecOps leva tudo para a esteira de CI. Hoje o foco são APIs e aplicações com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Definição. Duas partes: proteger (o controle existe e funciona) e resistir (o atacante não consegue contornar). E o objetivo é encontrar a vulnerabilidade antes do atacante. A definição é uma síntese nossa a partir do survey de Felderer et al. (2016) e do artigo de Potter e McGraw (2004).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Distinção importante (Potter e McGraw, 2004). O teste funcional de segurança verifica se o controle existe: "o login exige senha?". O teste baseado em risco pensa como o atacante: "dá para burlar?". Nosso exemplo mostra isso: na versão vulnerável a rota exige token (CT01 passa), mas aceita qualquer token forjado (CT02 a CT04 falham). Se tivéssemos só o teste funcional, a falha passaria.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técnicas, da mais "por dentro" para a mais "por fora". Caixa-branca enxerga o código (SAST, SCA, segredos, revisão), caixa-cinza conhece parte do sistema (nossos testes de abuso sabem os papéis e as rotas) e caixa-preta só vê a aplicação rodando (DAST, pentest). Quanto mais à esquerda no ciclo de vida, mais barata a correção. No exemplo usamos cinco delas: SAST, SCA, segredos, testes de abuso e DAST.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OWASP é a principal referência aberta. O Top 10 diz o que priorizar; o API Security Top 10 é o mais próximo do nosso caso; o WSTG ensina como testar; o ASVS vira checklist de requisitos; e o Top 10 para LLM cobre aplicações com IA. Nos nossos casos de teste, cada um está ligado a um item: por exemplo, o IDOR é o API1 (BOLA) e a injeção de SQL é o A03.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propósitos. O mais importante para nós é o 4: no exemplo, todos os testes de segurança falham na branch vulnerável e passam na corrigida; dali em diante funcionam como testes de regressão. Se alguém reintroduzir a falha, a pipeline reprova. O 5 também aparece: cada execução da pipeline gera relatórios do Bandit, Semgrep, pip-audit, Gitleaks, pytest e ZAP.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 comparativo. Do lado das vantagens, o principal é o custo e a automação no CI. Do lado das desvantagens, o principal é que nenhuma ferramenta cobre tudo. Complementamos com a nossa experiência: na branch main o Bandit e o Semgrep não deram nenhum falso positivo (nossa API é pequena; em sistemas grandes isso muda); o ZAP com varredura ativa leva alguns minutos; e as falhas de lógica (IDOR, mass assignment) passaram por todas as ferramentas genéricas.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Ferramentas por categoria; em negrito as que usamos. Escolhemos Python porque concentra ferramentas maduras e gratuitas (Bandit, Semgrep, pip-audit) e porque o FastAPI gera a especificação OpenAPI automaticamente, que alimenta o OWASP ZAP. Burp Suite, SonarQube, Snyk e CodeQL são alternativas comuns no mercado, algumas pagas.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Ilustração do exemplo prático (mandatória). À esquerda, quem chama a API: o Swagger UI, o curl ou o nosso script de ataques. No centro, as rotas da NotasAPI, cada uma marcada com o número da falha plantada nela. À direita, o banco SQLite. O item 6 não está numa rota: são o arquivo .env versionado e a dependência vulnerável, no próprio repositório. Tudo roda num ambiente isolado; nunca testamos sistemas de terceiros.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Fluxograma da pipeline (arquivo .github/workflows/seguranca.yml). Cada push dispara cinco jobs em paralelo: SAST com Bandit e Semgrep, SCA com pip-audit, segredos com Gitleaks, os testes de abuso com pytest e o DAST com o OWASP ZAP, que sobe a API no runner, pega um token de aluna e varre todas as rotas a partir do /openapi.json. No fim, um job de resumo monta o quadro com o resultado de cada camada e os relatórios ficam disponíveis para download. Na branch vulneravel tudo reprova; na main tudo aprova.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falhas que plantamos na branch vulneravel, cada uma com a correção na main e o caso de teste que a cobre. A numeração é a mesma da ilustração da arquitetura. O comando git diff no rodapé mostra o antes e depois de todas as correções de uma vez; os arquivos têm os mesmos nomes nas duas branches justamente para o diff ficar 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de código de uma das falhas. Na versão vulnerável a rota só verifica se a nota existe. Na corrigida, também verifica se quem pede é o dono ou um professor, e responde 404 (não 403) para não revelar que a nota existe. Embaixo, o teste CT06: faz login como Ana e como Bruno, pega o id de uma nota do Bruno e tenta lê-la com o token da Ana. Esse teste falha na vulneravel e passa na main. Nenhuma ferramenta genérica achou essa falha, porque ela depende da regra de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sai dos slides e vai para a demonstração. Passo 1: docker compose up (ou uvicorn) e abrir http://127.0.0.1:8000/docs. Passo 2: abrir o workflow seguranca.yml e a aba Actions do GitHub. Passo 3: mostrar a execução da branch vulneravel com os jobs vermelhos e baixar os relatórios em Artifacts; localmente, rodar pytest para ver as 16 falhas. Passo 4: com a API vulnerável no ar, rodar python scripts/demo_ataques.py. Passo 5: mostrar a execução da main toda verde, rodar o mesmo script contra a main (tudo bloqueado) e o git diff vulneravel main -- app/. Dica: apague o notas.db antes de começar para os dados voltarem ao estado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das execuções. Na vulneravel: 16 dos 21 testes falham; os 5 que passam são o CT01 (a rota exige token, só que o token é burlável) e os 4 testes de controle, que verificam se o uso legítimo continua funcionando. O Bandit acusa a SQL concatenada e o MD5; o Semgrep acusa 5 problemas (CORS *, sqlalchemy.text, MD5, alg none e decode sem verificação); o pip-audit encontra 18 avisos de vulnerabilidade no PyJWT 2.3.0; o Gitleaks acha a chave no .env; o ZAP acha injeção de SQL de risco alto, CORS mal configurado e falta do nosniff. Na main, tudo zera.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matriz é o coração da análise crítica pedida no roteiro: quais falhas cada técnica conseguiu detectar automaticamente. "Sim" é detectado; "baixa" quer dizer que o Bandit avisou, mas com severidade baixa, abaixo do limite que reprova a pipeline. Repare nas linhas de autorização (IDOR, papel, mass assignment, força bruta): só os testes da equipe pegaram. E repare na última linha: um erro que nem tínhamos plantado.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Análise crítica: o que cada técnica detectou ou deixou passar. 1) Falhas de lógica (IDOR, papel, mass assignment, força bruta) escapam de SAST e DAST e só aparecem em testes escritos por quem conhece a regra de negócio. 2) Cada ferramenta tem limites: o segredo fraco não foi reconhecido pelo Gitleaks, que procura textos com alta entropia; o Bandit só avisou com severidade baixa; o teste CT02, que tenta assinar tokens com senhas comuns, provou que dava para forjar tokens. 3) O ZAP, na versão corrigida, encontrou um bug real que não tínhamos plantado: trocar o e-mail para um já cadastrado gerava erro 500. Corrigimos e transformamos o achado em teste, exatamente o ciclo que defendemos no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Conclusão. Testes de segurança funcionam melhor em camadas: ferramentas automáticas no CI para os padrões conhecidos, testes de casos de abuso escritos pela equipe para a lógica de negócio, e sempre em ambiente isolado e autorizado. E cada falha encontrada deve virar teste de regressão.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em ordem alfabética, no padrão ABNT. Seguindo a orientação do professor, usamos somente livros, artigos acadêmicos e sites oficiais das ferramentas, frameworks e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Continuação das referências: norma ISO/IEC 25010, livros de McGraw e Myers, e os referenciais da OWASP.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parte das referências: documentação oficial das ferramentas usadas no exemplo e os artigos e livros de Potter e McGraw, Scarfone et al. (NIST), Spafford e Stuttard e Pinto.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Deixar o link do repositório na tela durante as perguntas. Perguntas prováveis: por que não usar só o ZAP? (porque ele não conhece as regras de negócio, veja a matriz); por que 404 e não 403 no IDOR? (para não revelar que a nota existe); os testes rodam contra produção? (não, só em ambiente isolado).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Segurança · NotasAPI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Segurança · NotasAPI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C9A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Segurança · NotasAPI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F1B2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QUALIDADE E TESTES DE SOFTWARE · 6º DSM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Não Funcionais: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Segurança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 aplicado à NotasAPI, uma API REST de notas acadêmicas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92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Fontes · Eduardo Kuwahara · Fábio Hiroshi · João Rossi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Kathellyn Caroline · Paulo Henrique · Victor Daniel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Lucas Nadalete · FATEC São José dos Campos · 26/11/2026</a:t>
            </a:r>
            <a:endParaRPr lang="en-US" sz="1400" dirty="0"/>
          </a:p>
        </p:txBody>
      </p:sp>
      <p:sp>
        <p:nvSpPr>
          <p:cNvPr id="8" name="Circulo FaLock"/>
          <p:cNvSpPr/>
          <p:nvPr/>
        </p:nvSpPr>
        <p:spPr>
          <a:xfrm>
            <a:off x="9966960" y="4480560"/>
            <a:ext cx="1463040" cy="146304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</p:sp>
      <p:pic>
        <p:nvPicPr>
          <p:cNvPr id="9" name="Image 0" descr="Fa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8090" y="4831690"/>
            <a:ext cx="760781" cy="7607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ROTEIRO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apresentar</a:t>
            </a:r>
            <a:endParaRPr lang="en-US" sz="3400" dirty="0"/>
          </a:p>
        </p:txBody>
      </p:sp>
      <p:sp>
        <p:nvSpPr>
          <p:cNvPr id="5" name="Item 1"/>
          <p:cNvSpPr/>
          <p:nvPr/>
        </p:nvSpPr>
        <p:spPr>
          <a:xfrm>
            <a:off x="548640" y="169164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928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2000" dirty="0"/>
          </a:p>
        </p:txBody>
      </p:sp>
      <p:sp>
        <p:nvSpPr>
          <p:cNvPr id="8" name="Item 2"/>
          <p:cNvSpPr/>
          <p:nvPr/>
        </p:nvSpPr>
        <p:spPr>
          <a:xfrm>
            <a:off x="4338218" y="169164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12538" y="18928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612538" y="22860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2000" dirty="0"/>
          </a:p>
        </p:txBody>
      </p:sp>
      <p:sp>
        <p:nvSpPr>
          <p:cNvPr id="11" name="Item 3"/>
          <p:cNvSpPr/>
          <p:nvPr/>
        </p:nvSpPr>
        <p:spPr>
          <a:xfrm>
            <a:off x="8127797" y="169164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02117" y="18928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402117" y="22860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é?</a:t>
            </a:r>
            <a:endParaRPr lang="en-US" sz="2000" dirty="0"/>
          </a:p>
        </p:txBody>
      </p:sp>
      <p:sp>
        <p:nvSpPr>
          <p:cNvPr id="14" name="Item 4"/>
          <p:cNvSpPr/>
          <p:nvPr/>
        </p:nvSpPr>
        <p:spPr>
          <a:xfrm>
            <a:off x="548640" y="315468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355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7490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propósito?</a:t>
            </a:r>
            <a:endParaRPr lang="en-US" sz="2000" dirty="0"/>
          </a:p>
        </p:txBody>
      </p:sp>
      <p:sp>
        <p:nvSpPr>
          <p:cNvPr id="17" name="Item 5"/>
          <p:cNvSpPr/>
          <p:nvPr/>
        </p:nvSpPr>
        <p:spPr>
          <a:xfrm>
            <a:off x="4338218" y="315468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12538" y="3355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612538" y="37490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e desvantagens</a:t>
            </a:r>
            <a:endParaRPr lang="en-US" sz="2000" dirty="0"/>
          </a:p>
        </p:txBody>
      </p:sp>
      <p:sp>
        <p:nvSpPr>
          <p:cNvPr id="20" name="Item 6"/>
          <p:cNvSpPr/>
          <p:nvPr/>
        </p:nvSpPr>
        <p:spPr>
          <a:xfrm>
            <a:off x="8127797" y="315468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02117" y="3355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402117" y="37490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 frameworks</a:t>
            </a:r>
            <a:endParaRPr lang="en-US" sz="2000" dirty="0"/>
          </a:p>
        </p:txBody>
      </p:sp>
      <p:sp>
        <p:nvSpPr>
          <p:cNvPr id="23" name="Item 7"/>
          <p:cNvSpPr/>
          <p:nvPr/>
        </p:nvSpPr>
        <p:spPr>
          <a:xfrm>
            <a:off x="548640" y="461772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818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52120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do exemplo</a:t>
            </a:r>
            <a:endParaRPr lang="en-US" sz="2000" dirty="0"/>
          </a:p>
        </p:txBody>
      </p:sp>
      <p:sp>
        <p:nvSpPr>
          <p:cNvPr id="26" name="Item 8"/>
          <p:cNvSpPr/>
          <p:nvPr/>
        </p:nvSpPr>
        <p:spPr>
          <a:xfrm>
            <a:off x="4338218" y="461772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612538" y="4818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4612538" y="52120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e resultados</a:t>
            </a:r>
            <a:endParaRPr lang="en-US" sz="2000" dirty="0"/>
          </a:p>
        </p:txBody>
      </p:sp>
      <p:sp>
        <p:nvSpPr>
          <p:cNvPr id="29" name="Item 9"/>
          <p:cNvSpPr/>
          <p:nvPr/>
        </p:nvSpPr>
        <p:spPr>
          <a:xfrm>
            <a:off x="8127797" y="4617720"/>
            <a:ext cx="351525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402117" y="4818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8402117" y="52120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e referências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INTRODUÇÃO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testar a segurança do software?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737360"/>
            <a:ext cx="3515258" cy="42062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Circulo FaGlobe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</p:sp>
      <p:pic>
        <p:nvPicPr>
          <p:cNvPr id="7" name="Image 0" descr="FaGlob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300630"/>
            <a:ext cx="427939" cy="42793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315468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são a porta de entrada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406908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web e móveis conversam com o servidor por APIs. Os ataques a elas ganharam uma lista própria da OWASP em 2019.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4338218" y="1737360"/>
            <a:ext cx="3515258" cy="42062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Circulo FaClock"/>
          <p:cNvSpPr/>
          <p:nvPr/>
        </p:nvSpPr>
        <p:spPr>
          <a:xfrm>
            <a:off x="4658258" y="2103120"/>
            <a:ext cx="822960" cy="822960"/>
          </a:xfrm>
          <a:prstGeom prst="ellipse">
            <a:avLst/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</p:sp>
      <p:pic>
        <p:nvPicPr>
          <p:cNvPr id="12" name="Image 1" descr="Fa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769" y="2300630"/>
            <a:ext cx="427939" cy="4279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58258" y="315468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tarde custa caro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4658258" y="406908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achada em produção exige correção às pressas, novo deploy, resposta a incidente e aviso aos afetados.</a:t>
            </a:r>
            <a:endParaRPr lang="en-US" sz="1700" dirty="0"/>
          </a:p>
        </p:txBody>
      </p:sp>
      <p:sp>
        <p:nvSpPr>
          <p:cNvPr id="15" name="Card"/>
          <p:cNvSpPr/>
          <p:nvPr/>
        </p:nvSpPr>
        <p:spPr>
          <a:xfrm>
            <a:off x="8127797" y="1737360"/>
            <a:ext cx="3515258" cy="420624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Circulo FaUserShield"/>
          <p:cNvSpPr/>
          <p:nvPr/>
        </p:nvSpPr>
        <p:spPr>
          <a:xfrm>
            <a:off x="8447837" y="2103120"/>
            <a:ext cx="822960" cy="822960"/>
          </a:xfrm>
          <a:prstGeom prst="ellipse">
            <a:avLst/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</p:sp>
      <p:pic>
        <p:nvPicPr>
          <p:cNvPr id="17" name="Image 2" descr="FaUserShiel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347" y="2300630"/>
            <a:ext cx="427939" cy="42793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47837" y="315468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têm proteção legal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8447837" y="4069080"/>
            <a:ext cx="287517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e cadastros de alunos são dados pessoais protegidos pela LGPD (Lei nº 13.709/2018).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INTRODUÇÃO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tema se encaixa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737360"/>
            <a:ext cx="51206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965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funcionais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sistema faz: o professor consegue lançar uma nota?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548640" y="3794760"/>
            <a:ext cx="5120640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4023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não funcionais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57200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pPr indent="0" marL="0">
              <a:buNone/>
            </a:pPr>
            <a:r>
              <a:rPr lang="en-US" sz="17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sistema se comporta: desempenho, usabilidade, confiabilidade e </a:t>
            </a:r>
            <a:pPr indent="0" marL="0">
              <a:buNone/>
            </a:pPr>
            <a:r>
              <a:rPr lang="en-US" sz="1700" b="1" dirty="0">
                <a:solidFill>
                  <a:srgbClr val="F28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pPr indent="0" marL="0">
              <a:buNone/>
            </a:pPr>
            <a:r>
              <a:rPr lang="en-US" sz="17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1737360"/>
            <a:ext cx="5516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na ISO/IEC 25010:2023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240280"/>
          <a:ext cx="551657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41345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Subcaracterística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 que o teste responde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Confidencialidade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quem pode acessa o dado?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dado é alterado só por quem pode?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repúdio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Dá para provar que a ação ocorreu?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Responsabilização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ação é rastreável a quem a fez?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Autenticidade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usuário é quem diz ser?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Resistência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sistema suporta um ataque?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INTRODUÇÃO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exemplo prático: NotasAPI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de uma escola técnica fictícia: professores lançam notas e alunos consultam o próprio desempenho.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JWT (PyJWT), SQLite + SQLAlchemy, Docker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Papéis: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e PROFESSOR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548640" y="4526280"/>
            <a:ext cx="4206240" cy="548640"/>
          </a:xfrm>
          <a:prstGeom prst="roundRect">
            <a:avLst>
              <a:gd name="adj" fmla="val 20000"/>
            </a:avLst>
          </a:prstGeom>
          <a:solidFill>
            <a:srgbClr val="FBE3D3"/>
          </a:solidFill>
          <a:ln w="9525">
            <a:solidFill>
              <a:srgbClr val="FBE3D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526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vulneravel</a:t>
            </a:r>
            <a:pPr indent="0" marL="0">
              <a:buNone/>
            </a:pPr>
            <a:r>
              <a:rPr lang="en-US" sz="1600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falhas propositais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48640" y="5257800"/>
            <a:ext cx="4206240" cy="548640"/>
          </a:xfrm>
          <a:prstGeom prst="roundRect">
            <a:avLst>
              <a:gd name="adj" fmla="val 20000"/>
            </a:avLst>
          </a:prstGeom>
          <a:solidFill>
            <a:srgbClr val="DCE8F7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5257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versão corrigida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737360"/>
          <a:ext cx="643097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194560"/>
                <a:gridCol w="172181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acessa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/auth/registro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Cadastra aluno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/auth/login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Devolve token JWT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/notas/minhas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 do aluno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/notas/{id}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Detalha uma nota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 ou professor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/notas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 nota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/alunos?nome=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alunos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PATCH /usuarios/me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 nome e e-mail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HISTÓRICO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tiger teams ao DevSecOps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85800" y="1874520"/>
            <a:ext cx="0" cy="3840480"/>
          </a:xfrm>
          <a:prstGeom prst="line">
            <a:avLst/>
          </a:prstGeom>
          <a:noFill/>
          <a:ln w="31750">
            <a:solidFill>
              <a:srgbClr val="D9DEE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6072" y="176479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6916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Anos 1970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697480" y="1691640"/>
            <a:ext cx="8945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Anderson (1972) para a Força Aérea dos EUA e os tiger teams: nasce o teste de invasão como prática formal.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6072" y="240487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1988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2331720"/>
            <a:ext cx="8945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de Morris, primeiro grande incidente da Internet: explorou estouro de buffer e senhas fracas (SPAFFORD, 1989).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76072" y="304495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Anos 1990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697480" y="2971800"/>
            <a:ext cx="8945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se populariza e amplia a superfície de ataque; surgem scanners automatizados de vulnerabilidades (SATAN, Nessus).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76072" y="368503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3611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2001–2004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697480" y="3611880"/>
            <a:ext cx="8945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 a OWASP (2001) e sai o primeiro OWASP Top 10 (2003); testes de segurança baseados em risco (POTTER; MCGRAW, 2004).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76072" y="432511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5840" y="4251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2006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697480" y="4251960"/>
            <a:ext cx="8945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Development Lifecycle da Microsoft: segurança em todas as fases do desenvolvimento (HOWARD; LIPNER, 2006).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76072" y="496519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5840" y="4892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2008–2010s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2697480" y="4892040"/>
            <a:ext cx="8945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NIST SP 800-115 (SCARFONE et al., 2008); SAST, DAST e SCA se consolidam; movimento DevSecOps e shift-left.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76072" y="560527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5840" y="5532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2019–hoje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2697480" y="5532120"/>
            <a:ext cx="8945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API Security Top 10 (2019 e 2023) e OWASP Top 10 para aplicações com LLM: APIs e IA generativa no centro.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O QUE É?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106372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segurança são técnicas que verificam se o software </a:t>
            </a:r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28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dados e funcionalidades</a:t>
            </a:r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deveria e se </a:t>
            </a:r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28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 a usos maliciosos</a:t>
            </a:r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encontrando vulnerabilidades antes que sejam exploradas.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em Felderer et al. (2016) e Potter e McGraw (2004)</a:t>
            </a:r>
            <a:endParaRPr lang="en-US" sz="1600" dirty="0"/>
          </a:p>
        </p:txBody>
      </p:sp>
      <p:sp>
        <p:nvSpPr>
          <p:cNvPr id="6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C9A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O QUE É?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perguntas diferentes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5364328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Circulo FaCheckCircle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</p:sp>
      <p:pic>
        <p:nvPicPr>
          <p:cNvPr id="7" name="Image 0" descr="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7627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148840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 FUNCIONAL DE SEGURANÇA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88036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controle existe e funciona?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474720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protegida chamada sem token devolve 401.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868680" y="4389120"/>
            <a:ext cx="4724248" cy="502920"/>
          </a:xfrm>
          <a:prstGeom prst="roundRect">
            <a:avLst>
              <a:gd name="adj" fmla="val 21818"/>
            </a:avLst>
          </a:prstGeom>
          <a:solidFill>
            <a:srgbClr val="DCE8F7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51560" y="4389120"/>
            <a:ext cx="435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CT01 · sem token → 401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278728" y="1691640"/>
            <a:ext cx="5364328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Circulo FaUserSecret"/>
          <p:cNvSpPr/>
          <p:nvPr/>
        </p:nvSpPr>
        <p:spPr>
          <a:xfrm>
            <a:off x="6598768" y="2011680"/>
            <a:ext cx="685800" cy="685800"/>
          </a:xfrm>
          <a:prstGeom prst="ellipse">
            <a:avLst/>
          </a:prstGeom>
          <a:solidFill>
            <a:srgbClr val="FBE3D3"/>
          </a:solidFill>
          <a:ln w="12700">
            <a:solidFill>
              <a:srgbClr val="FBE3D3"/>
            </a:solidFill>
            <a:prstDash val="solid"/>
          </a:ln>
        </p:spPr>
      </p:sp>
      <p:pic>
        <p:nvPicPr>
          <p:cNvPr id="15" name="Image 1" descr="FaUserSecr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360" y="217627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67448" y="2148840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 BASEADO EM RISCO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598768" y="2880360"/>
            <a:ext cx="472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atacante consegue contornar?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6598768" y="3474720"/>
            <a:ext cx="4724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forjado com outro segredo, com alg none ou já expirado também tem de ser recusado.</a:t>
            </a:r>
            <a:endParaRPr lang="en-US" sz="1700" dirty="0"/>
          </a:p>
        </p:txBody>
      </p:sp>
      <p:sp>
        <p:nvSpPr>
          <p:cNvPr id="19" name="Card"/>
          <p:cNvSpPr/>
          <p:nvPr/>
        </p:nvSpPr>
        <p:spPr>
          <a:xfrm>
            <a:off x="6598768" y="4389120"/>
            <a:ext cx="4724248" cy="502920"/>
          </a:xfrm>
          <a:prstGeom prst="roundRect">
            <a:avLst>
              <a:gd name="adj" fmla="val 21818"/>
            </a:avLst>
          </a:prstGeom>
          <a:solidFill>
            <a:srgbClr val="FBE3D3"/>
          </a:solidFill>
          <a:ln w="9525">
            <a:solidFill>
              <a:srgbClr val="FBE3D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781648" y="4389120"/>
            <a:ext cx="4358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34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CT02–CT04 · token forjado → 401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branch vulneravel: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CT01 passa e o CT02–CT04 falham. O controle existe, mas é contornável.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O QUE É?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tipos e técnicas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1645920"/>
                <a:gridCol w="213329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Analisa o código-fonte sem executá-lo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cada commit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Procura CVEs nas dependências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cada build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Varredura de segredos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 chaves e senhas no repositório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cada commit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Revisão de código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Olhar humano focado em segurança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request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 de casos de abuso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 automatizados do ponto de vista do atacante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Cinza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integração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Fuzzing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 entradas malformadas ou aleatórias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Preta ou cinza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 de teste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Ataca a aplicação em execução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 de teste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de invasão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Especialista simula um ataque real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Preta ou cinza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releases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O QUE É?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Referenciais da OWASP que guiam os testes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737360"/>
            <a:ext cx="351525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Circulo FaListOl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</p:sp>
      <p:pic>
        <p:nvPicPr>
          <p:cNvPr id="7" name="Image 0" descr="FaList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154326"/>
            <a:ext cx="309067" cy="30906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084832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7432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dez riscos mais críticos de aplicações web (2021).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4338218" y="1737360"/>
            <a:ext cx="351525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Circulo FaPlug"/>
          <p:cNvSpPr/>
          <p:nvPr/>
        </p:nvSpPr>
        <p:spPr>
          <a:xfrm>
            <a:off x="4612538" y="2011680"/>
            <a:ext cx="594360" cy="594360"/>
          </a:xfrm>
          <a:prstGeom prst="ellipse">
            <a:avLst/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</p:sp>
      <p:pic>
        <p:nvPicPr>
          <p:cNvPr id="12" name="Image 1" descr="FaPlu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185" y="2154326"/>
            <a:ext cx="309067" cy="309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44058" y="2084832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 Top 10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4612538" y="27432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específicos de APIs (2023), como BOLA e falhas de autenticação.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8127797" y="1737360"/>
            <a:ext cx="351525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Circulo FaBook"/>
          <p:cNvSpPr/>
          <p:nvPr/>
        </p:nvSpPr>
        <p:spPr>
          <a:xfrm>
            <a:off x="8402117" y="2011680"/>
            <a:ext cx="594360" cy="594360"/>
          </a:xfrm>
          <a:prstGeom prst="ellipse">
            <a:avLst/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</p:sp>
      <p:pic>
        <p:nvPicPr>
          <p:cNvPr id="17" name="Image 2" descr="Fa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763" y="2154326"/>
            <a:ext cx="309067" cy="30906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33637" y="2084832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WSTG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8402117" y="27432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Security Testing Guide: como testar cada tipo de falha.</a:t>
            </a:r>
            <a:endParaRPr lang="en-US" sz="1600" dirty="0"/>
          </a:p>
        </p:txBody>
      </p:sp>
      <p:sp>
        <p:nvSpPr>
          <p:cNvPr id="20" name="Card"/>
          <p:cNvSpPr/>
          <p:nvPr/>
        </p:nvSpPr>
        <p:spPr>
          <a:xfrm>
            <a:off x="548640" y="3977640"/>
            <a:ext cx="351525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1" name="Circulo FaClipboardCheck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</p:sp>
      <p:pic>
        <p:nvPicPr>
          <p:cNvPr id="22" name="Image 3" descr="Fa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394606"/>
            <a:ext cx="309067" cy="30906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54480" y="4325112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822960" y="4983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requisitos de segurança verificáveis, por nível.</a:t>
            </a:r>
            <a:endParaRPr lang="en-US" sz="1600" dirty="0"/>
          </a:p>
        </p:txBody>
      </p:sp>
      <p:sp>
        <p:nvSpPr>
          <p:cNvPr id="25" name="Card"/>
          <p:cNvSpPr/>
          <p:nvPr/>
        </p:nvSpPr>
        <p:spPr>
          <a:xfrm>
            <a:off x="4338218" y="3977640"/>
            <a:ext cx="351525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6" name="Circulo FaRobot"/>
          <p:cNvSpPr/>
          <p:nvPr/>
        </p:nvSpPr>
        <p:spPr>
          <a:xfrm>
            <a:off x="4612538" y="4251960"/>
            <a:ext cx="594360" cy="594360"/>
          </a:xfrm>
          <a:prstGeom prst="ellipse">
            <a:avLst/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</p:sp>
      <p:pic>
        <p:nvPicPr>
          <p:cNvPr id="27" name="Image 4" descr="FaRob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185" y="4394606"/>
            <a:ext cx="309067" cy="30906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44058" y="4325112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para LLM</a:t>
            </a:r>
            <a:endParaRPr lang="en-US" sz="2000" dirty="0"/>
          </a:p>
        </p:txBody>
      </p:sp>
      <p:sp>
        <p:nvSpPr>
          <p:cNvPr id="29" name="Text 21"/>
          <p:cNvSpPr txBox="1"/>
          <p:nvPr/>
        </p:nvSpPr>
        <p:spPr>
          <a:xfrm>
            <a:off x="4612538" y="4983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de aplicações com IA generativa, como prompt injection.</a:t>
            </a:r>
            <a:endParaRPr lang="en-US" sz="1600" dirty="0"/>
          </a:p>
        </p:txBody>
      </p:sp>
      <p:sp>
        <p:nvSpPr>
          <p:cNvPr id="30" name="Card"/>
          <p:cNvSpPr/>
          <p:nvPr/>
        </p:nvSpPr>
        <p:spPr>
          <a:xfrm>
            <a:off x="8127797" y="3977640"/>
            <a:ext cx="3515258" cy="1965960"/>
          </a:xfrm>
          <a:prstGeom prst="roundRect">
            <a:avLst>
              <a:gd name="adj" fmla="val 5581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1" name="Circulo FaLink"/>
          <p:cNvSpPr/>
          <p:nvPr/>
        </p:nvSpPr>
        <p:spPr>
          <a:xfrm>
            <a:off x="8402117" y="4251960"/>
            <a:ext cx="594360" cy="59436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</p:sp>
      <p:pic>
        <p:nvPicPr>
          <p:cNvPr id="32" name="Image 5" descr="FaLin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763" y="4394606"/>
            <a:ext cx="309067" cy="30906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133637" y="4325112"/>
            <a:ext cx="2326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8C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exemplo</a:t>
            </a:r>
            <a:endParaRPr lang="en-US" sz="2000" dirty="0"/>
          </a:p>
        </p:txBody>
      </p:sp>
      <p:sp>
        <p:nvSpPr>
          <p:cNvPr id="34" name="Text 25"/>
          <p:cNvSpPr txBox="1"/>
          <p:nvPr/>
        </p:nvSpPr>
        <p:spPr>
          <a:xfrm>
            <a:off x="8402117" y="4983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de teste aponta o item do Top 10 ou do API Top 10 que cobre.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QUAL O PROPÓSITO?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servem os testes de segurança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73736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cedo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quando corrigir é mais barato (shift-left).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60604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confidencialidade, integridade e disponibilidade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dados e serviços.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347472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requisitos não funcionais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atender à LGPD, essencial com dados de estudantes.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4389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34340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regressões: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falha encontrada vira teste automatizado que roda a cada commit.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48640" y="5257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521208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evidências objetivas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(relatórios) para a equipe, o cliente e auditorias.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VANTAGENS E DESVANTAGENS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Prós e contras na prática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5364328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Circulo FaThumbsUp"/>
          <p:cNvSpPr/>
          <p:nvPr/>
        </p:nvSpPr>
        <p:spPr>
          <a:xfrm>
            <a:off x="822960" y="1947672"/>
            <a:ext cx="594360" cy="594360"/>
          </a:xfrm>
          <a:prstGeom prst="ellipse">
            <a:avLst/>
          </a:prstGeom>
          <a:solidFill>
            <a:srgbClr val="DCE8F7"/>
          </a:solidFill>
          <a:ln w="12700">
            <a:solidFill>
              <a:srgbClr val="DCE8F7"/>
            </a:solidFill>
            <a:prstDash val="solid"/>
          </a:ln>
        </p:spPr>
      </p:sp>
      <p:pic>
        <p:nvPicPr>
          <p:cNvPr id="7" name="Image 0" descr="FaThumbs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090318"/>
            <a:ext cx="309067" cy="30906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020824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9748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o custo: a falha é achada antes da produção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no CI/CD a cada commit e evita regressões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dados, reputação e conformidade com a LGPD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maduras e gratuitas (ZAP, Bandit, Semgrep, pip-audit, Gitleaks)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evidências e cultura de segurança no time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6278728" y="1691640"/>
            <a:ext cx="5364328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Circulo FaExclamationTriangle"/>
          <p:cNvSpPr/>
          <p:nvPr/>
        </p:nvSpPr>
        <p:spPr>
          <a:xfrm>
            <a:off x="6553048" y="1947672"/>
            <a:ext cx="594360" cy="594360"/>
          </a:xfrm>
          <a:prstGeom prst="ellipse">
            <a:avLst/>
          </a:prstGeom>
          <a:solidFill>
            <a:srgbClr val="FBE3D3"/>
          </a:solidFill>
          <a:ln w="12700">
            <a:solidFill>
              <a:srgbClr val="FBE3D3"/>
            </a:solidFill>
            <a:prstDash val="solid"/>
          </a:ln>
        </p:spPr>
      </p:sp>
      <p:pic>
        <p:nvPicPr>
          <p:cNvPr id="12" name="Image 1" descr="FaExclamationTriang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2090318"/>
            <a:ext cx="309067" cy="309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84568" y="2020824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Desvantagens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553048" y="269748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ferramenta cobre tudo; lógica de negócio exige testes próprios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 (sobretudo em SAST) consomem triagem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e pentest exigem a aplicação rodando e são mais lentos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Pedem conhecimento para configurar e interpretar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ativo no ambiente errado causa dano; exige autorização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54406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nosso exemplo: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falsos positivos do Bandit e do Semgrep na main; o ZAP levou alguns minutos por execução; IDOR e mass assignment só foram pegos pelos testes da equipe.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FERRAMENTAS E FRAMEWORKS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por categoria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0257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(código-fonte)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Bandit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Semgrep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SonarQube, CodeQL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 (app em execução)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ZAP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Burp Suite, Nikto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 (dependências)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pip-audit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OWASP Dependency-Check, Snyk, Dependabot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Segredos no repositório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Gitleaks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TruffleHog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 automatizados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TestClient do FastAPI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(httpx), </a:t>
                      </a:r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PyJWT</a:t>
                      </a:r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para forjar tokens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Orquestração (CI/CD)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Referenciais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D4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Top 10, API Security Top 10, WSTG, ASVS, Top 10 para LLM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negrito: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usadas no exemplo prático.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ILUSTRAÇÃO DO EXEMPLO PRÁTICO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 superfície de ataque</a:t>
            </a:r>
            <a:endParaRPr lang="en-US" sz="3400" dirty="0"/>
          </a:p>
        </p:txBody>
      </p:sp>
      <p:sp>
        <p:nvSpPr>
          <p:cNvPr id="5" name="Ambiente isolado"/>
          <p:cNvSpPr/>
          <p:nvPr/>
        </p:nvSpPr>
        <p:spPr>
          <a:xfrm>
            <a:off x="548640" y="1600200"/>
            <a:ext cx="11094415" cy="4572000"/>
          </a:xfrm>
          <a:prstGeom prst="roundRect">
            <a:avLst>
              <a:gd name="adj" fmla="val 2400"/>
            </a:avLst>
          </a:prstGeom>
          <a:solidFill>
            <a:schemeClr val="bg1"/>
          </a:solidFill>
          <a:ln w="15875">
            <a:solidFill>
              <a:srgbClr val="8C9AB0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Ambiente de teste isolado (local, docker-compose ou runner do CI), nunca produção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822960" y="297180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DCE8F7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" name="Circulo FaUserSecret"/>
          <p:cNvSpPr/>
          <p:nvPr/>
        </p:nvSpPr>
        <p:spPr>
          <a:xfrm>
            <a:off x="1005840" y="310896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FaUserSecr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322966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3657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ou atacante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005840" y="3977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UI, curl, script de ataques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+ JWT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926080" y="3749040"/>
            <a:ext cx="822960" cy="347472"/>
          </a:xfrm>
          <a:prstGeom prst="rightArrow">
            <a:avLst/>
          </a:prstGeom>
          <a:solidFill>
            <a:srgbClr val="5A6576"/>
          </a:solidFill>
          <a:ln w="12700">
            <a:solidFill>
              <a:srgbClr val="5A6576"/>
            </a:solidFill>
            <a:prstDash val="solid"/>
          </a:ln>
        </p:spPr>
      </p:sp>
      <p:sp>
        <p:nvSpPr>
          <p:cNvPr id="14" name="Card"/>
          <p:cNvSpPr/>
          <p:nvPr/>
        </p:nvSpPr>
        <p:spPr>
          <a:xfrm>
            <a:off x="3886200" y="2194560"/>
            <a:ext cx="4297680" cy="379476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11480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NotasAPI · FastAPI + PyJWT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11480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/auth/registro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680960" y="285292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680960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114800" y="32095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315200" y="322783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315200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680960" y="322783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680960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114800" y="3584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/notas/minhas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7680960" y="3602736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68096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4114800" y="39593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/notas/{id}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7680960" y="39776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6809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4114800" y="43342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/notas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7680960" y="4352544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680960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4114800" y="4709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/alunos?nome=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7680960" y="4727448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680960" y="4727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4114800" y="50840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/usuarios/me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7680960" y="5102352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7680960" y="5102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4114800" y="5458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Middlewares CORS/cabeçalhos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7680960" y="5477256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7680960" y="5477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8229600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8321040" y="3749040"/>
            <a:ext cx="731520" cy="347472"/>
          </a:xfrm>
          <a:prstGeom prst="rightArrow">
            <a:avLst/>
          </a:prstGeom>
          <a:solidFill>
            <a:srgbClr val="5A6576"/>
          </a:solidFill>
          <a:ln w="12700">
            <a:solidFill>
              <a:srgbClr val="5A6576"/>
            </a:solidFill>
            <a:prstDash val="solid"/>
          </a:ln>
        </p:spPr>
      </p:sp>
      <p:sp>
        <p:nvSpPr>
          <p:cNvPr id="44" name="Card"/>
          <p:cNvSpPr/>
          <p:nvPr/>
        </p:nvSpPr>
        <p:spPr>
          <a:xfrm>
            <a:off x="9235440" y="2194560"/>
            <a:ext cx="2133295" cy="1005840"/>
          </a:xfrm>
          <a:prstGeom prst="roundRect">
            <a:avLst>
              <a:gd name="adj" fmla="val 10909"/>
            </a:avLst>
          </a:prstGeom>
          <a:solidFill>
            <a:srgbClr val="FBF0DC"/>
          </a:solidFill>
          <a:ln w="9525">
            <a:solidFill>
              <a:srgbClr val="B07A1C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9418320" y="2331720"/>
            <a:ext cx="1767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600" dirty="0"/>
          </a:p>
        </p:txBody>
      </p:sp>
      <p:sp>
        <p:nvSpPr>
          <p:cNvPr id="46" name="Text 42"/>
          <p:cNvSpPr txBox="1"/>
          <p:nvPr/>
        </p:nvSpPr>
        <p:spPr>
          <a:xfrm>
            <a:off x="9418320" y="2724912"/>
            <a:ext cx="1767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</a:t>
            </a:r>
            <a:endParaRPr lang="en-US" sz="1300" dirty="0"/>
          </a:p>
        </p:txBody>
      </p:sp>
      <p:sp>
        <p:nvSpPr>
          <p:cNvPr id="47" name="Text 43"/>
          <p:cNvSpPr txBox="1"/>
          <p:nvPr/>
        </p:nvSpPr>
        <p:spPr>
          <a:xfrm>
            <a:off x="9235440" y="3383280"/>
            <a:ext cx="2133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Superfície de ataque</a:t>
            </a:r>
            <a:endParaRPr lang="en-US" sz="1500" dirty="0"/>
          </a:p>
        </p:txBody>
      </p:sp>
      <p:sp>
        <p:nvSpPr>
          <p:cNvPr id="48" name="Shape 44"/>
          <p:cNvSpPr/>
          <p:nvPr/>
        </p:nvSpPr>
        <p:spPr>
          <a:xfrm>
            <a:off x="9235440" y="3767328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923544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6"/>
          <p:cNvSpPr txBox="1"/>
          <p:nvPr/>
        </p:nvSpPr>
        <p:spPr>
          <a:xfrm>
            <a:off x="9582912" y="3749040"/>
            <a:ext cx="17858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 autenticação</a:t>
            </a:r>
            <a:endParaRPr lang="en-US" sz="1300" dirty="0"/>
          </a:p>
        </p:txBody>
      </p:sp>
      <p:sp>
        <p:nvSpPr>
          <p:cNvPr id="51" name="Shape 47"/>
          <p:cNvSpPr/>
          <p:nvPr/>
        </p:nvSpPr>
        <p:spPr>
          <a:xfrm>
            <a:off x="9235440" y="4096512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9235440" y="409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3" name="Text 49"/>
          <p:cNvSpPr txBox="1"/>
          <p:nvPr/>
        </p:nvSpPr>
        <p:spPr>
          <a:xfrm>
            <a:off x="9582912" y="4078224"/>
            <a:ext cx="17858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(IDOR e papel)</a:t>
            </a:r>
            <a:endParaRPr lang="en-US" sz="1300" dirty="0"/>
          </a:p>
        </p:txBody>
      </p:sp>
      <p:sp>
        <p:nvSpPr>
          <p:cNvPr id="54" name="Shape 50"/>
          <p:cNvSpPr/>
          <p:nvPr/>
        </p:nvSpPr>
        <p:spPr>
          <a:xfrm>
            <a:off x="9235440" y="4425696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9235440" y="4425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6" name="Text 52"/>
          <p:cNvSpPr txBox="1"/>
          <p:nvPr/>
        </p:nvSpPr>
        <p:spPr>
          <a:xfrm>
            <a:off x="9582912" y="4407408"/>
            <a:ext cx="17858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de SQL</a:t>
            </a:r>
            <a:endParaRPr lang="en-US" sz="1300" dirty="0"/>
          </a:p>
        </p:txBody>
      </p:sp>
      <p:sp>
        <p:nvSpPr>
          <p:cNvPr id="57" name="Shape 53"/>
          <p:cNvSpPr/>
          <p:nvPr/>
        </p:nvSpPr>
        <p:spPr>
          <a:xfrm>
            <a:off x="9235440" y="4754880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9235440" y="4754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Text 55"/>
          <p:cNvSpPr txBox="1"/>
          <p:nvPr/>
        </p:nvSpPr>
        <p:spPr>
          <a:xfrm>
            <a:off x="9582912" y="4736592"/>
            <a:ext cx="17858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assignment</a:t>
            </a:r>
            <a:endParaRPr lang="en-US" sz="1300" dirty="0"/>
          </a:p>
        </p:txBody>
      </p:sp>
      <p:sp>
        <p:nvSpPr>
          <p:cNvPr id="60" name="Shape 56"/>
          <p:cNvSpPr/>
          <p:nvPr/>
        </p:nvSpPr>
        <p:spPr>
          <a:xfrm>
            <a:off x="9235440" y="508406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9235440" y="5084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Text 58"/>
          <p:cNvSpPr txBox="1"/>
          <p:nvPr/>
        </p:nvSpPr>
        <p:spPr>
          <a:xfrm>
            <a:off x="9582912" y="5065776"/>
            <a:ext cx="17858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e força bruta</a:t>
            </a:r>
            <a:endParaRPr lang="en-US" sz="1300" dirty="0"/>
          </a:p>
        </p:txBody>
      </p:sp>
      <p:sp>
        <p:nvSpPr>
          <p:cNvPr id="63" name="Shape 59"/>
          <p:cNvSpPr/>
          <p:nvPr/>
        </p:nvSpPr>
        <p:spPr>
          <a:xfrm>
            <a:off x="9235440" y="5413248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9235440" y="5413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5" name="Text 61"/>
          <p:cNvSpPr txBox="1"/>
          <p:nvPr/>
        </p:nvSpPr>
        <p:spPr>
          <a:xfrm>
            <a:off x="9582912" y="5394960"/>
            <a:ext cx="17858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e dependências (repositório)</a:t>
            </a:r>
            <a:endParaRPr lang="en-US" sz="1300" dirty="0"/>
          </a:p>
        </p:txBody>
      </p:sp>
      <p:sp>
        <p:nvSpPr>
          <p:cNvPr id="66" name="Shape 62"/>
          <p:cNvSpPr/>
          <p:nvPr/>
        </p:nvSpPr>
        <p:spPr>
          <a:xfrm>
            <a:off x="9235440" y="5742432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9235440" y="5742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8" name="Text 64"/>
          <p:cNvSpPr txBox="1"/>
          <p:nvPr/>
        </p:nvSpPr>
        <p:spPr>
          <a:xfrm>
            <a:off x="9582912" y="5724144"/>
            <a:ext cx="17858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 cabeçalhos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ILUSTRAÇÃO DO EXEMPLO PRÁTICO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em camadas no GitHub Actions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2743200"/>
            <a:ext cx="1737360" cy="173736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" name="Circulo FaCodeBranch"/>
          <p:cNvSpPr/>
          <p:nvPr/>
        </p:nvSpPr>
        <p:spPr>
          <a:xfrm>
            <a:off x="777240" y="2926080"/>
            <a:ext cx="548640" cy="54864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</p:sp>
      <p:pic>
        <p:nvPicPr>
          <p:cNvPr id="7" name="Image 0" descr="FaCodeBra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305775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main ou na vulneravel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377440" y="3429000"/>
            <a:ext cx="502920" cy="365760"/>
          </a:xfrm>
          <a:prstGeom prst="rightArrow">
            <a:avLst/>
          </a:prstGeom>
          <a:solidFill>
            <a:srgbClr val="5A6576"/>
          </a:solidFill>
          <a:ln w="12700">
            <a:solidFill>
              <a:srgbClr val="5A6576"/>
            </a:solidFill>
            <a:prstDash val="solid"/>
          </a:ln>
        </p:spPr>
      </p:sp>
      <p:sp>
        <p:nvSpPr>
          <p:cNvPr id="11" name="Jobs em paralelo"/>
          <p:cNvSpPr/>
          <p:nvPr/>
        </p:nvSpPr>
        <p:spPr>
          <a:xfrm>
            <a:off x="2971800" y="1600200"/>
            <a:ext cx="5897880" cy="4069080"/>
          </a:xfrm>
          <a:prstGeom prst="roundRect">
            <a:avLst>
              <a:gd name="adj" fmla="val 2697"/>
            </a:avLst>
          </a:prstGeom>
          <a:solidFill>
            <a:schemeClr val="bg1"/>
          </a:solidFill>
          <a:ln w="15875">
            <a:solidFill>
              <a:srgbClr val="8C9AB0"/>
            </a:solidFill>
            <a:prstDash val="dash"/>
          </a:ln>
        </p:spPr>
      </p:sp>
      <p:sp>
        <p:nvSpPr>
          <p:cNvPr id="12" name="Text 8"/>
          <p:cNvSpPr txBox="1"/>
          <p:nvPr/>
        </p:nvSpPr>
        <p:spPr>
          <a:xfrm>
            <a:off x="320040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 em paralelo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3154680" y="2011680"/>
            <a:ext cx="55321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Circulo FaSearch"/>
          <p:cNvSpPr/>
          <p:nvPr/>
        </p:nvSpPr>
        <p:spPr>
          <a:xfrm>
            <a:off x="3264408" y="2103120"/>
            <a:ext cx="420624" cy="42062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15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358" y="2204070"/>
            <a:ext cx="218724" cy="2187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40480" y="201168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303520" y="20116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+ Semgrep no código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452360" y="201168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caixa-branca</a:t>
            </a:r>
            <a:endParaRPr lang="en-US" sz="1100" dirty="0"/>
          </a:p>
        </p:txBody>
      </p:sp>
      <p:sp>
        <p:nvSpPr>
          <p:cNvPr id="19" name="Card"/>
          <p:cNvSpPr/>
          <p:nvPr/>
        </p:nvSpPr>
        <p:spPr>
          <a:xfrm>
            <a:off x="3154680" y="2724912"/>
            <a:ext cx="55321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Circulo FaBoxOpen"/>
          <p:cNvSpPr/>
          <p:nvPr/>
        </p:nvSpPr>
        <p:spPr>
          <a:xfrm>
            <a:off x="3264408" y="2816352"/>
            <a:ext cx="420624" cy="42062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1" name="Image 2" descr="FaBox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5358" y="2917302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840480" y="27249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303520" y="272491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 no requirements.txt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452360" y="272491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caixa-branca</a:t>
            </a:r>
            <a:endParaRPr lang="en-US" sz="1100" dirty="0"/>
          </a:p>
        </p:txBody>
      </p:sp>
      <p:sp>
        <p:nvSpPr>
          <p:cNvPr id="25" name="Card"/>
          <p:cNvSpPr/>
          <p:nvPr/>
        </p:nvSpPr>
        <p:spPr>
          <a:xfrm>
            <a:off x="3154680" y="3438144"/>
            <a:ext cx="55321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6" name="Circulo FaKey"/>
          <p:cNvSpPr/>
          <p:nvPr/>
        </p:nvSpPr>
        <p:spPr>
          <a:xfrm>
            <a:off x="3264408" y="3529584"/>
            <a:ext cx="420624" cy="42062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pic>
        <p:nvPicPr>
          <p:cNvPr id="27" name="Image 3" descr="FaKe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358" y="3630534"/>
            <a:ext cx="218724" cy="21872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840480" y="3438144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5303520" y="343814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 no histórico da branch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7452360" y="343814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caixa-branca</a:t>
            </a:r>
            <a:endParaRPr lang="en-US" sz="1100" dirty="0"/>
          </a:p>
        </p:txBody>
      </p:sp>
      <p:sp>
        <p:nvSpPr>
          <p:cNvPr id="31" name="Card"/>
          <p:cNvSpPr/>
          <p:nvPr/>
        </p:nvSpPr>
        <p:spPr>
          <a:xfrm>
            <a:off x="3154680" y="4151376"/>
            <a:ext cx="55321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2" name="Circulo FaVial"/>
          <p:cNvSpPr/>
          <p:nvPr/>
        </p:nvSpPr>
        <p:spPr>
          <a:xfrm>
            <a:off x="3264408" y="4242816"/>
            <a:ext cx="420624" cy="420624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33" name="Image 4" descr="FaVi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5358" y="4343766"/>
            <a:ext cx="218724" cy="21872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840480" y="415137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abuso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5303520" y="4151376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PyJWT: CT01–CT11, CT15, CT16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7452360" y="415137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caixa-cinza</a:t>
            </a:r>
            <a:endParaRPr lang="en-US" sz="1100" dirty="0"/>
          </a:p>
        </p:txBody>
      </p:sp>
      <p:sp>
        <p:nvSpPr>
          <p:cNvPr id="37" name="Card"/>
          <p:cNvSpPr/>
          <p:nvPr/>
        </p:nvSpPr>
        <p:spPr>
          <a:xfrm>
            <a:off x="3154680" y="4864608"/>
            <a:ext cx="553212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8" name="Circulo FaBug"/>
          <p:cNvSpPr/>
          <p:nvPr/>
        </p:nvSpPr>
        <p:spPr>
          <a:xfrm>
            <a:off x="3264408" y="4956048"/>
            <a:ext cx="420624" cy="420624"/>
          </a:xfrm>
          <a:prstGeom prst="ellipse">
            <a:avLst/>
          </a:prstGeom>
          <a:solidFill>
            <a:srgbClr val="FBE3D3"/>
          </a:solidFill>
          <a:ln w="12700">
            <a:solidFill>
              <a:srgbClr val="FBE3D3"/>
            </a:solidFill>
            <a:prstDash val="solid"/>
          </a:ln>
        </p:spPr>
      </p:sp>
      <p:pic>
        <p:nvPicPr>
          <p:cNvPr id="39" name="Image 5" descr="FaBu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358" y="5056998"/>
            <a:ext cx="218724" cy="218724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840480" y="4864608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5303520" y="486460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lendo o /openapi.json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7452360" y="486460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caixa-preta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8961120" y="3429000"/>
            <a:ext cx="502920" cy="365760"/>
          </a:xfrm>
          <a:prstGeom prst="rightArrow">
            <a:avLst/>
          </a:prstGeom>
          <a:solidFill>
            <a:srgbClr val="5A6576"/>
          </a:solidFill>
          <a:ln w="12700">
            <a:solidFill>
              <a:srgbClr val="5A6576"/>
            </a:solidFill>
            <a:prstDash val="solid"/>
          </a:ln>
        </p:spPr>
      </p:sp>
      <p:sp>
        <p:nvSpPr>
          <p:cNvPr id="44" name="Card"/>
          <p:cNvSpPr/>
          <p:nvPr/>
        </p:nvSpPr>
        <p:spPr>
          <a:xfrm>
            <a:off x="9555480" y="2377440"/>
            <a:ext cx="208757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9784080" y="2514600"/>
            <a:ext cx="1630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800" dirty="0"/>
          </a:p>
        </p:txBody>
      </p:sp>
      <p:sp>
        <p:nvSpPr>
          <p:cNvPr id="46" name="Text 37"/>
          <p:cNvSpPr txBox="1"/>
          <p:nvPr/>
        </p:nvSpPr>
        <p:spPr>
          <a:xfrm>
            <a:off x="9784080" y="2880360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e relatórios em Artifacts</a:t>
            </a:r>
            <a:endParaRPr lang="en-US" sz="1300" dirty="0"/>
          </a:p>
        </p:txBody>
      </p:sp>
      <p:sp>
        <p:nvSpPr>
          <p:cNvPr id="47" name="Card"/>
          <p:cNvSpPr/>
          <p:nvPr/>
        </p:nvSpPr>
        <p:spPr>
          <a:xfrm>
            <a:off x="9555480" y="3749040"/>
            <a:ext cx="2087575" cy="502920"/>
          </a:xfrm>
          <a:prstGeom prst="roundRect">
            <a:avLst>
              <a:gd name="adj" fmla="val 21818"/>
            </a:avLst>
          </a:prstGeom>
          <a:solidFill>
            <a:srgbClr val="FBE3D3"/>
          </a:solidFill>
          <a:ln w="9525">
            <a:solidFill>
              <a:srgbClr val="FBE3D3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9738360" y="3749040"/>
            <a:ext cx="1721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vulneravel: </a:t>
            </a:r>
            <a:pPr indent="0" marL="0">
              <a:buNone/>
            </a:pPr>
            <a:r>
              <a:rPr lang="en-US" sz="1500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</a:t>
            </a:r>
            <a:endParaRPr lang="en-US" sz="1500" dirty="0"/>
          </a:p>
        </p:txBody>
      </p:sp>
      <p:sp>
        <p:nvSpPr>
          <p:cNvPr id="49" name="Card"/>
          <p:cNvSpPr/>
          <p:nvPr/>
        </p:nvSpPr>
        <p:spPr>
          <a:xfrm>
            <a:off x="9555480" y="4389120"/>
            <a:ext cx="2087575" cy="502920"/>
          </a:xfrm>
          <a:prstGeom prst="roundRect">
            <a:avLst>
              <a:gd name="adj" fmla="val 21818"/>
            </a:avLst>
          </a:prstGeom>
          <a:solidFill>
            <a:srgbClr val="DCE8F7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9738360" y="4389120"/>
            <a:ext cx="1721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main: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</a:t>
            </a:r>
            <a:endParaRPr lang="en-US" sz="1500" dirty="0"/>
          </a:p>
        </p:txBody>
      </p:sp>
      <p:sp>
        <p:nvSpPr>
          <p:cNvPr id="51" name="Text 42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cinco jobs rodam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paralelo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qualquer achado reprova a execução.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ILUSTRAÇÃO DO EXEMPLO PRÁTICO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plantadas e suas correções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663440"/>
                <a:gridCol w="4663440"/>
                <a:gridCol w="13103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 na branch vulneravel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Correção na branch main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Segredo fixo "segredo123"; assinatura ignorada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Segredo forte no ambiente; HS256 e exp exigidos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CT02–CT04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/notas/{id} não confere o dono (IDOR)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dono ou professor; 404 para os demais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/notas não confere o papel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 PROFESSOR, lido do banco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/alunos?nome= concatena texto no SQL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parametrizada pelo ORM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/usuarios/me aceita qualquer campo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com extra="forbid"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MD5 sem salt; login sem limite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bcrypt; HTTP 429 após 5 erros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CT09, CT10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.env versionado; PyJWT 2.3.0 com CVEs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.env ignorado; dependências atualizadas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CT12, CT13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 *; sem cabeçalhos de segurança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 restrito; nosniff, CSP, X-Frame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CT11, CT15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vulneravel main -- app/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ILUSTRAÇÃO DO EXEMPLO PRÁTICO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 depois: IDOR em GET /notas/{id}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5364328" cy="2514600"/>
          </a:xfrm>
          <a:prstGeom prst="roundRect">
            <a:avLst>
              <a:gd name="adj" fmla="val 4364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" name="Card"/>
          <p:cNvSpPr/>
          <p:nvPr/>
        </p:nvSpPr>
        <p:spPr>
          <a:xfrm>
            <a:off x="822960" y="192024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F28C4B"/>
          </a:solidFill>
          <a:ln w="9525">
            <a:solidFill>
              <a:srgbClr val="F28C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vulneravel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8156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db.get(Nota, nota_id)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nota is None: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HTTPException(404)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nota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qualquer aluno lê qualquer nota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278728" y="1691640"/>
            <a:ext cx="5364328" cy="2514600"/>
          </a:xfrm>
          <a:prstGeom prst="roundRect">
            <a:avLst>
              <a:gd name="adj" fmla="val 4364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6553048" y="192024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6FA8EC"/>
          </a:solidFill>
          <a:ln w="9525">
            <a:solidFill>
              <a:srgbClr val="6FA8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53048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53048" y="2423160"/>
            <a:ext cx="48156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= db.get(Nota, nota_id)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nota is None or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usuario.papel != PROFESSOR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 nota.aluno_id != usuario.id):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HTTPException(404)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nota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4434840"/>
            <a:ext cx="11094415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5720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que prova a falha e protege a correção (tests/test_autorizacao.py)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98348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5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CT06 – a aluna Ana tenta ler a nota do Bruno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 = client.get(f"/notas/{nota_do_bruno['id']}", headers=auth(token_ana))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resposta.status_code in (403, 404)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DEMONSTRAÇÃO · 8 A 10 MINUTOS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demonstração ao vivo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7830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o ambiente local</a:t>
            </a:r>
            <a:pPr indent="0" marL="0">
              <a:buNone/>
            </a:pPr>
            <a:r>
              <a:rPr lang="en-US" sz="19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mostrar a API em /docs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052560" y="1783080"/>
            <a:ext cx="2590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6517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a pipeline</a:t>
            </a:r>
            <a:pPr indent="0" marL="0">
              <a:buNone/>
            </a:pPr>
            <a:r>
              <a:rPr lang="en-US" sz="19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GitHub Actions, etapa por etapa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9052560" y="2651760"/>
            <a:ext cx="2590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aba Actions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566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3520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vulneravel:</a:t>
            </a:r>
            <a:pPr indent="0" marL="0">
              <a:buNone/>
            </a:pPr>
            <a:r>
              <a:rPr lang="en-US" sz="19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ferramentas e testes falhando, com relatórios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3520440"/>
            <a:ext cx="2590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· Artifacts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43891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ao vivo:</a:t>
            </a:r>
            <a:pPr indent="0" marL="0">
              <a:buNone/>
            </a:pPr>
            <a:r>
              <a:rPr lang="en-US" sz="19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 lê a nota do Bruno (IDOR) e vira professora (mass assignment)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4389120"/>
            <a:ext cx="2590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demo_ataques.py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5303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371600" y="52578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main:</a:t>
            </a:r>
            <a:pPr indent="0" marL="0">
              <a:buNone/>
            </a:pPr>
            <a:r>
              <a:rPr lang="en-US" sz="19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 aprovada e comparação antes e depois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9052560" y="5257800"/>
            <a:ext cx="2590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C9A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RESULTADOS OBTIDOS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 depois em números</a:t>
            </a:r>
            <a:endParaRPr lang="en-US" sz="3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5895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 / ferramenta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vulneravel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main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(21 testes)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falham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passam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Bandit (médio ou alto)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achados (SQL, MD5)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Semgrep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achados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pip-audit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avisos no PyJWT 2.3.0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Gitleaks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segredo no .env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ZAP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alertas, incl. SQLi alto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(2 informativos)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reprova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8503920" y="1691640"/>
            <a:ext cx="3139135" cy="1828800"/>
          </a:xfrm>
          <a:prstGeom prst="roundRect">
            <a:avLst>
              <a:gd name="adj" fmla="val 6000"/>
            </a:avLst>
          </a:prstGeom>
          <a:solidFill>
            <a:srgbClr val="FBE3D3"/>
          </a:solidFill>
          <a:ln w="9525">
            <a:solidFill>
              <a:srgbClr val="FBE3D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778240" y="1828800"/>
            <a:ext cx="2590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8778240" y="2697480"/>
            <a:ext cx="2590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falham na vulneravel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8503920" y="3703320"/>
            <a:ext cx="3139135" cy="1828800"/>
          </a:xfrm>
          <a:prstGeom prst="roundRect">
            <a:avLst>
              <a:gd name="adj" fmla="val 6000"/>
            </a:avLst>
          </a:prstGeom>
          <a:solidFill>
            <a:srgbClr val="DCE8F7"/>
          </a:solidFill>
          <a:ln w="9525">
            <a:solidFill>
              <a:srgbClr val="DCE8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778240" y="3840480"/>
            <a:ext cx="2590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4800" dirty="0"/>
          </a:p>
        </p:txBody>
      </p:sp>
      <p:sp>
        <p:nvSpPr>
          <p:cNvPr id="11" name="Text 7"/>
          <p:cNvSpPr txBox="1"/>
          <p:nvPr/>
        </p:nvSpPr>
        <p:spPr>
          <a:xfrm>
            <a:off x="8778240" y="4709160"/>
            <a:ext cx="2590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passam na main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vulneravel, os 5 testes que passam são o CT01 e os 4 testes de controle (uso legítimo).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RESULTADOS OBTIDOS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técnica detectou</a:t>
            </a:r>
            <a:endParaRPr lang="en-US" sz="3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54709"/>
                <a:gridCol w="1254709"/>
                <a:gridCol w="1254709"/>
                <a:gridCol w="1254709"/>
                <a:gridCol w="1254709"/>
                <a:gridCol w="1254709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Semgrep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pip-audit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Gitleaks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Segredo JWT fraco no código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sem verificação, alg 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CT02–04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IDOR e aluno lançando nota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CT05–06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assignment (papel)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Injeção de 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MD5 sem salt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Força bruta no 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 * e cabeçalhos ausentes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CT11, CT15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 de API no .env versionado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PyJWT 2.3.0 com CVEs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500 não planejado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5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ANÁLISE CRÍTICA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lições do exemplo prático</a:t>
            </a:r>
            <a:endParaRPr lang="en-US" sz="3400" dirty="0"/>
          </a:p>
        </p:txBody>
      </p:sp>
      <p:sp>
        <p:nvSpPr>
          <p:cNvPr id="5" name="Card"/>
          <p:cNvSpPr/>
          <p:nvPr/>
        </p:nvSpPr>
        <p:spPr>
          <a:xfrm>
            <a:off x="548640" y="1737360"/>
            <a:ext cx="3515258" cy="429768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" name="Circulo FaBrain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7" name="Image 0" descr="FaBr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232965"/>
            <a:ext cx="380390" cy="38039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297180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negócio exige testes próprios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3931920"/>
            <a:ext cx="28751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IDOR, papel, mass assignment e força bruta passaram por todas as ferramentas genéricas. Só os testes da equipe, que conhecem as regras, pegaram.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4338218" y="1737360"/>
            <a:ext cx="3515258" cy="429768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1" name="Circulo FaEyeSlash"/>
          <p:cNvSpPr/>
          <p:nvPr/>
        </p:nvSpPr>
        <p:spPr>
          <a:xfrm>
            <a:off x="4658258" y="2057400"/>
            <a:ext cx="731520" cy="7315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2" name="Image 1" descr="FaEyeSla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823" y="223296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58258" y="297180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ferramenta tem um ponto cego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4658258" y="3931920"/>
            <a:ext cx="28751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Gitleaks não reconheceu "segredo123" (baixa entropia) e o Bandit só deu aviso baixo. Quem provou o risco foi o CT02, com uma lista de senhas comuns.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8127797" y="1737360"/>
            <a:ext cx="3515258" cy="4297680"/>
          </a:xfrm>
          <a:prstGeom prst="roundRect">
            <a:avLst>
              <a:gd name="adj" fmla="val 3121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6" name="Circulo FaBug"/>
          <p:cNvSpPr/>
          <p:nvPr/>
        </p:nvSpPr>
        <p:spPr>
          <a:xfrm>
            <a:off x="8447837" y="2057400"/>
            <a:ext cx="731520" cy="7315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17" name="Image 2" descr="FaBu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402" y="2232965"/>
            <a:ext cx="380390" cy="38039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47837" y="297180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DAST achou o que não plantamos</a:t>
            </a:r>
            <a:endParaRPr lang="en-US" sz="2100" dirty="0"/>
          </a:p>
        </p:txBody>
      </p:sp>
      <p:sp>
        <p:nvSpPr>
          <p:cNvPr id="19" name="Text 13"/>
          <p:cNvSpPr txBox="1"/>
          <p:nvPr/>
        </p:nvSpPr>
        <p:spPr>
          <a:xfrm>
            <a:off x="8447837" y="3931920"/>
            <a:ext cx="287517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ZAP causou erro 500 ao trocar o e-mail por um já usado. Corrigimos e o achado virou o teste de regressão CT16.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F1B2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CONCLUSÃO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técnica sozinha basta: segurança se testa em camadas, a cada commit.</a:t>
            </a:r>
            <a:endParaRPr lang="en-US" sz="3800" dirty="0"/>
          </a:p>
        </p:txBody>
      </p:sp>
      <p:sp>
        <p:nvSpPr>
          <p:cNvPr id="5" name="Circulo FaRobot"/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</p:sp>
      <p:pic>
        <p:nvPicPr>
          <p:cNvPr id="6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362833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297680"/>
            <a:ext cx="3332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Automatize no CI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800600"/>
            <a:ext cx="33323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SCA, segredos e DAST são baratos de ligar e pegam os padrões conhecidos.</a:t>
            </a:r>
            <a:endParaRPr lang="en-US" sz="1600" dirty="0"/>
          </a:p>
        </p:txBody>
      </p:sp>
      <p:sp>
        <p:nvSpPr>
          <p:cNvPr id="9" name="Circulo FaUserSecret"/>
          <p:cNvSpPr/>
          <p:nvPr/>
        </p:nvSpPr>
        <p:spPr>
          <a:xfrm>
            <a:off x="4338218" y="3474720"/>
            <a:ext cx="640080" cy="64008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</p:sp>
      <p:pic>
        <p:nvPicPr>
          <p:cNvPr id="10" name="Image 1" descr="FaUserSecr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838" y="3628339"/>
            <a:ext cx="332842" cy="33284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38218" y="4297680"/>
            <a:ext cx="3332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casos de abuso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4338218" y="4800600"/>
            <a:ext cx="33323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que pensam como o atacante cobrem a lógica que as ferramentas não enxergam.</a:t>
            </a:r>
            <a:endParaRPr lang="en-US" sz="1600" dirty="0"/>
          </a:p>
        </p:txBody>
      </p:sp>
      <p:sp>
        <p:nvSpPr>
          <p:cNvPr id="13" name="Circulo FaShieldAlt"/>
          <p:cNvSpPr/>
          <p:nvPr/>
        </p:nvSpPr>
        <p:spPr>
          <a:xfrm>
            <a:off x="8127797" y="3474720"/>
            <a:ext cx="640080" cy="64008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</p:sp>
      <p:pic>
        <p:nvPicPr>
          <p:cNvPr id="14" name="Image 2" descr="FaShiel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416" y="3628339"/>
            <a:ext cx="332842" cy="33284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127797" y="4297680"/>
            <a:ext cx="3332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com responsabilidade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8127797" y="4800600"/>
            <a:ext cx="33323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em ambiente isolado e com autorização; nunca contra sistemas de terceiros.</a:t>
            </a:r>
            <a:endParaRPr lang="en-US" sz="1600" dirty="0"/>
          </a:p>
        </p:txBody>
      </p:sp>
      <p:sp>
        <p:nvSpPr>
          <p:cNvPr id="17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C9A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REFERÊNCIAS (1/3)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ANDERSON, J. P.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security technology planning study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Bedford: U.S. Air Force Electronic Systems Division, 1972. (ESD-TR-73-51).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documentation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PyCQA, [s.d.]. Disponível em: https://bandit.readthedocs.io/. Acesso em: 26 out. 2026.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Python Cryptographic Authority, [s.d.]. Disponível em: https://pypi.org/project/bcrypt/. Acesso em: 26 out. 2026.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[s.d.]. Disponível em: https://fastapi.tiangolo.com/tutorial/testing/. Acesso em: 26 out. 2026.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FELDERER, M. et al. Security testing: a survey.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Computers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v. 101, p. 1-51, 2016.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documentation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[s.d.]. Disponível em: https://docs.github.com/actions. Acesso em: 26 out. 2026.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[s.d.]. Disponível em: https://github.com/gitleaks/gitleaks. Acesso em: 26 out. 2026.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HOWARD, M.; LIPNER, S.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development lifecycle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Redmond: Microsoft Press, 2006.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REFERÊNCIAS (2/3)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ORGANIZATION FOR STANDARDIZATION.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systems and software engineering - systems and software quality requirements and evaluation (SQuaRE) - product quality model. Geneva: ISO, 2023.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MCGRAW, G.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building security in. Boston: Addison-Wesley, 2006.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MYERS, G. J.; SANDLER, C.; BADGETT, T.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software testing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3. ed. Hoboken: John Wiley &amp; Sons, 2011.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FOUNDATION.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API Security Top 10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2023. Disponível em: https://owasp.org/API-Security/. Acesso em: 26 out. 2026.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FOUNDATION.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Application Security Verification Standard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Versão 5.0. 2025. Disponível em: https://owasp.org/www-project-application-security-verification-standard/. Acesso em: 26 out. 2026.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FOUNDATION.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for Large Language Model Applications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2025. Disponível em: https://genai.owasp.org/. Acesso em: 26 out. 2026.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FOUNDATION.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Ten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2021. Disponível em: https://owasp.org/www-project-top-ten/. Acesso em: 26 out. 2026.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FOUNDATION.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Web Security Testing Guide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Versão 4.2. 2020. Disponível em: https://owasp.org/www-project-web-security-testing-guide/. Acesso em: 26 out. 2026.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REFERÊNCIAS (3/3)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Python Packaging Authority, [s.d.]. Disponível em: https://github.com/pypa/pip-audit. Acesso em: 26 out. 2026.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POTTER, B.; MCGRAW, G. Software security testing.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Security &amp; Privacy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v. 2, n. 5, p. 81-85, 2004.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PYJWT.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PyJWT documentation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[s.d.]. Disponível em: https://pyjwt.readthedocs.io/. Acesso em: 26 out. 2026.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documentation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[s.d.]. Disponível em: https://docs.pytest.org/. Acesso em: 26 out. 2026.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SCARFONE, K. et al.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guide to information security testing and assessment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Gaithersburg: National Institute of Standards and Technology, 2008. (NIST Special Publication 800-115).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documentation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[s.d.]. Disponível em: https://semgrep.dev/docs/. Acesso em: 26 out. 2026.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SPAFFORD, E. H. The internet worm program: an analysis.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SIGCOMM Computer Communication Review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v. 19, n. 1, p. 17-57, 1989.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STUTTARD, D.; PINTO, M.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application hacker's handbook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finding and exploiting security flaws. 2. ed. Indianapolis: Wiley, 2011.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ZAP.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 documentation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[s.d.]. Disponível em: https://www.zaproxy.org/docs/. Acesso em: 26 out. 2026.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5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irculo FaLock"/>
          <p:cNvSpPr/>
          <p:nvPr/>
        </p:nvSpPr>
        <p:spPr>
          <a:xfrm>
            <a:off x="548640" y="822960"/>
            <a:ext cx="1005840" cy="1005840"/>
          </a:xfrm>
          <a:prstGeom prst="ellipse">
            <a:avLst/>
          </a:prstGeom>
          <a:solidFill>
            <a:srgbClr val="E8742A"/>
          </a:solidFill>
          <a:ln w="12700">
            <a:solidFill>
              <a:srgbClr val="E8742A"/>
            </a:solidFill>
            <a:prstDash val="solid"/>
          </a:ln>
        </p:spPr>
      </p:sp>
      <p:pic>
        <p:nvPicPr>
          <p:cNvPr id="4" name="Image 0" descr="Fa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1064362"/>
            <a:ext cx="523037" cy="52303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011680"/>
            <a:ext cx="9144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testes e pipeline: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28C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github.com/Equipe-Skyfall/Security-Testing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Fontes · Eduardo Kuwahara · Fábio Hiroshi · João Rossi · Kathellyn Caroline · Paulo Henrique · Victor Daniel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urity Testing">
  <a:themeElements>
    <a:clrScheme name="Security Testing">
      <a:dk1>
        <a:srgbClr val="0F1B2D"/>
      </a:dk1>
      <a:lt1>
        <a:srgbClr val="FFFFFF"/>
      </a:lt1>
      <a:dk2>
        <a:srgbClr val="3D4A5C"/>
      </a:dk2>
      <a:lt2>
        <a:srgbClr val="F2F4F7"/>
      </a:lt2>
      <a:accent1>
        <a:srgbClr val="E8742A"/>
      </a:accent1>
      <a:accent2>
        <a:srgbClr val="1F5FAF"/>
      </a:accent2>
      <a:accent3>
        <a:srgbClr val="B94E14"/>
      </a:accent3>
      <a:accent4>
        <a:srgbClr val="14417A"/>
      </a:accent4>
      <a:accent5>
        <a:srgbClr val="6B4FBB"/>
      </a:accent5>
      <a:accent6>
        <a:srgbClr val="2E8B57"/>
      </a:accent6>
      <a:hlink>
        <a:srgbClr val="1F5FAF"/>
      </a:hlink>
      <a:folHlink>
        <a:srgbClr val="6B4FBB"/>
      </a:folHlink>
    </a:clrScheme>
    <a:fontScheme name="Security Test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de Segurança (Security Testing) — NotasAPI</dc:title>
  <dc:subject>PptxGenJS Presentation</dc:subject>
  <dc:creator>Equipe FATEC SJC - 6º DSM</dc:creator>
  <cp:lastModifiedBy>Equipe FATEC SJC - 6º DSM</cp:lastModifiedBy>
  <cp:revision>1</cp:revision>
  <dcterms:created xsi:type="dcterms:W3CDTF">2026-10-26T14:53:48Z</dcterms:created>
  <dcterms:modified xsi:type="dcterms:W3CDTF">2026-10-26T14:53:48Z</dcterms:modified>
</cp:coreProperties>
</file>